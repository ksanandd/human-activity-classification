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822960"/>
            <a:ext cx="1828800" cy="1828800"/>
          </a:xfrm>
          <a:prstGeom prst="ellipse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1920240"/>
            <a:ext cx="1143000" cy="1143000"/>
          </a:xfrm>
          <a:prstGeom prst="ellipse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2743200"/>
            <a:ext cx="777240" cy="777240"/>
          </a:xfrm>
          <a:prstGeom prst="ellipse">
            <a:avLst/>
          </a:prstGeom>
          <a:solidFill>
            <a:srgbClr val="EB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32720" y="3657600"/>
            <a:ext cx="1371600" cy="1371600"/>
          </a:xfrm>
          <a:prstGeom prst="ellipse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77240"/>
            <a:ext cx="7040880" cy="3657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24A097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589520" cy="14630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Human Activity</a:t>
            </a:r>
          </a:p>
          <a:p>
            <a:pPr>
              <a:spcAft>
                <a:spcPts val="5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6766560" cy="7772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DAE4F2"/>
                </a:solidFill>
                <a:latin typeface="Aptos"/>
              </a:defRPr>
            </a:pPr>
            <a:r>
              <a:t>Using wearable sensor data from PAMAP2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7040880" cy="313932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Final Review • Methodology •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6858000" cy="244682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B4C4D8"/>
                </a:solidFill>
                <a:latin typeface="Aptos"/>
              </a:defRPr>
            </a:pPr>
            <a:r>
              <a:rPr dirty="0"/>
              <a:t>Team: </a:t>
            </a:r>
            <a:r>
              <a:rPr lang="en-IN" dirty="0"/>
              <a:t>Anand | </a:t>
            </a:r>
            <a:r>
              <a:rPr lang="en-IN" dirty="0" err="1"/>
              <a:t>Basawaraj</a:t>
            </a:r>
            <a:r>
              <a:rPr lang="en-IN" dirty="0"/>
              <a:t> Panchal</a:t>
            </a:r>
            <a:r>
              <a:rPr dirty="0"/>
              <a:t>   |    Course: </a:t>
            </a:r>
            <a:r>
              <a:rPr lang="en-IN" dirty="0"/>
              <a:t>Machine Learning – </a:t>
            </a:r>
            <a:r>
              <a:rPr lang="en-IN" sz="1000" dirty="0">
                <a:solidFill>
                  <a:srgbClr val="B4C4D8"/>
                </a:solidFill>
                <a:latin typeface="Aptos"/>
              </a:rPr>
              <a:t>UE24CS352A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4A097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33E"/>
                </a:solidFill>
                <a:latin typeface="Aptos"/>
              </a:defRPr>
            </a:pPr>
            <a:r>
              <a:t>Problem &amp; 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8229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4233E"/>
                </a:solidFill>
                <a:latin typeface="Aptos"/>
              </a:defRPr>
            </a:pPr>
            <a:r>
              <a:t>Can motion and heart-rate sensor signals identify what activity a person is performing?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73152" cy="2423160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679191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1. Prepare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81527"/>
            <a:ext cx="3044952" cy="18288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52F3E"/>
                </a:solidFill>
                <a:latin typeface="Aptos"/>
              </a:defRPr>
            </a:pPr>
            <a:r>
              <a:t>Combine subject recordings, clean missing values, and create usable feature 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6032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73152" cy="242316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679191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2. Train classifiers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081527"/>
            <a:ext cx="3044952" cy="18288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52F3E"/>
                </a:solidFill>
                <a:latin typeface="Aptos"/>
              </a:defRPr>
            </a:pPr>
            <a:r>
              <a:t>Compare six machine-learning algorithms using the same activity labels.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60320"/>
            <a:ext cx="342900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560320"/>
            <a:ext cx="73152" cy="2423160"/>
          </a:xfrm>
          <a:prstGeom prst="rect">
            <a:avLst/>
          </a:prstGeom>
          <a:solidFill>
            <a:srgbClr val="EB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679191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3. Evaluate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081527"/>
            <a:ext cx="3044952" cy="18288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52F3E"/>
                </a:solidFill>
                <a:latin typeface="Aptos"/>
              </a:defRPr>
            </a:pPr>
            <a:r>
              <a:t>Use accuracy, F1-related metrics, confusion matrices, and comparison plots.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98480" cy="50292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A697D"/>
                </a:solidFill>
                <a:latin typeface="Aptos"/>
              </a:defRPr>
            </a:pPr>
            <a:r>
              <a:t>Goal: compare a richer sensor feature set with a smaller, hand-sensor-focused feature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4A097"/>
                </a:solidFill>
                <a:latin typeface="Aptos"/>
              </a:defRPr>
            </a:pPr>
            <a:r>
              <a:t>02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33E"/>
                </a:solidFill>
                <a:latin typeface="Aptos"/>
              </a:defRPr>
            </a:pPr>
            <a:r>
              <a:t>Dataset: PAMAP2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417320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301752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9 subjects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38528"/>
            <a:ext cx="2999232" cy="8229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52F3E"/>
                </a:solidFill>
                <a:latin typeface="Aptos"/>
              </a:defRPr>
            </a:pPr>
            <a:r>
              <a:t>Protocol recordings from subjects 101–109.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41732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36192"/>
            <a:ext cx="301752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Wearable sensors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38528"/>
            <a:ext cx="2999232" cy="8229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E"/>
                </a:solidFill>
                <a:latin typeface="Aptos"/>
              </a:defRPr>
            </a:pPr>
            <a:r>
              <a:t>Hand, chest and ankle IMUs, plus heart-rate measurements.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1417320"/>
          </a:xfrm>
          <a:prstGeom prst="rect">
            <a:avLst/>
          </a:prstGeom>
          <a:solidFill>
            <a:srgbClr val="EB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536192"/>
            <a:ext cx="301752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12 activity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38528"/>
            <a:ext cx="2999232" cy="8229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E"/>
                </a:solidFill>
                <a:latin typeface="Aptos"/>
              </a:defRPr>
            </a:pPr>
            <a:r>
              <a:t>Activity ID 0 was removed; 12 labelled classes were used.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00400"/>
            <a:ext cx="5212080" cy="3657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4233E"/>
                </a:solidFill>
                <a:latin typeface="Aptos"/>
              </a:defRPr>
            </a:pPr>
            <a:r>
              <a:t>Data preparation at a glance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5257800" cy="1737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•  Combined subject files into a working dataset.</a:t>
            </a:r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•  Added subject_id to preserve subject identity.</a:t>
            </a:r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•  Heart rate had ~90.87% missingness; interpolation was applied per subject.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00400"/>
            <a:ext cx="48006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3200400"/>
            <a:ext cx="73152" cy="21945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3319272"/>
            <a:ext cx="44348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Cleaning detail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721608"/>
            <a:ext cx="4416552" cy="16002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After interpolation, 42 rows still contained missing values and were removed.</a:t>
            </a:r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Full feature rows: ~1.92 million</a:t>
            </a:r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Limited feature rows: ~1.93 million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4A097"/>
                </a:solidFill>
                <a:latin typeface="Aptos"/>
              </a:defRPr>
            </a:pPr>
            <a:r>
              <a:t>03 •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33E"/>
                </a:solidFill>
                <a:latin typeface="Aptos"/>
              </a:defRPr>
            </a:pPr>
            <a:r>
              <a:t>Methodology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7335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69848" y="1993392"/>
            <a:ext cx="530352" cy="530352"/>
          </a:xfrm>
          <a:prstGeom prst="ellipse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084831"/>
            <a:ext cx="530352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79192"/>
            <a:ext cx="1527048" cy="3108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72384"/>
            <a:ext cx="1490472" cy="47548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A697D"/>
                </a:solidFill>
                <a:latin typeface="Aptos"/>
              </a:defRPr>
            </a:pPr>
            <a:r>
              <a:t>PAMAP2 subject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5416" y="2487168"/>
            <a:ext cx="256032" cy="3657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4A0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1" y="1828800"/>
            <a:ext cx="167335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17520" y="1993392"/>
            <a:ext cx="530352" cy="530352"/>
          </a:xfrm>
          <a:prstGeom prst="ellipse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2084831"/>
            <a:ext cx="530352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2679192"/>
            <a:ext cx="1527048" cy="3108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072384"/>
            <a:ext cx="1490472" cy="47548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A697D"/>
                </a:solidFill>
                <a:latin typeface="Aptos"/>
              </a:defRPr>
            </a:pPr>
            <a:r>
              <a:t>Remove activity 0; handle missing heart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7" y="2487168"/>
            <a:ext cx="256032" cy="3657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4A0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8264" y="1828800"/>
            <a:ext cx="167335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65192" y="1993392"/>
            <a:ext cx="530352" cy="530352"/>
          </a:xfrm>
          <a:prstGeom prst="ellipse">
            <a:avLst/>
          </a:prstGeom>
          <a:solidFill>
            <a:srgbClr val="EB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65192" y="2084831"/>
            <a:ext cx="530352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2679192"/>
            <a:ext cx="1527048" cy="3108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Build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3" y="3072384"/>
            <a:ext cx="1490472" cy="47548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A697D"/>
                </a:solidFill>
                <a:latin typeface="Aptos"/>
              </a:defRPr>
            </a:pPr>
            <a:r>
              <a:t>Full: 52 • Limited: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2487168"/>
            <a:ext cx="256032" cy="3657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4A0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1828800"/>
            <a:ext cx="167335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912864" y="1993392"/>
            <a:ext cx="530352" cy="530352"/>
          </a:xfrm>
          <a:prstGeom prst="ellipse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12864" y="2084831"/>
            <a:ext cx="530352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679192"/>
            <a:ext cx="1527048" cy="3108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5" y="3072384"/>
            <a:ext cx="1490472" cy="47548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A697D"/>
                </a:solidFill>
                <a:latin typeface="Aptos"/>
              </a:defRPr>
            </a:pPr>
            <a:r>
              <a:t>85/15 stratified; random_state=42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2487168"/>
            <a:ext cx="256032" cy="3657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4A0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3608" y="1828800"/>
            <a:ext cx="167335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860536" y="1993392"/>
            <a:ext cx="530352" cy="530352"/>
          </a:xfrm>
          <a:prstGeom prst="ellipse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0536" y="2084831"/>
            <a:ext cx="530352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679192"/>
            <a:ext cx="1527048" cy="3108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3072384"/>
            <a:ext cx="1490472" cy="47548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A697D"/>
                </a:solidFill>
                <a:latin typeface="Aptos"/>
              </a:defRPr>
            </a:pPr>
            <a:r>
              <a:t>Six classifiers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6104" y="2487168"/>
            <a:ext cx="256032" cy="3657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24A09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1828800"/>
            <a:ext cx="167335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808207" y="1993392"/>
            <a:ext cx="530352" cy="530352"/>
          </a:xfrm>
          <a:prstGeom prst="ellipse">
            <a:avLst/>
          </a:prstGeom>
          <a:solidFill>
            <a:srgbClr val="EB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808207" y="2084831"/>
            <a:ext cx="530352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4432" y="2679192"/>
            <a:ext cx="1527048" cy="31089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4233E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19" y="3072384"/>
            <a:ext cx="1490472" cy="475488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5A697D"/>
                </a:solidFill>
                <a:latin typeface="Aptos"/>
              </a:defRPr>
            </a:pPr>
            <a:r>
              <a:t>Accuracy, F1, confusion matrices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16052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77240" y="4160520"/>
            <a:ext cx="73152" cy="118872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8408" y="4279392"/>
            <a:ext cx="484632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Full feature set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4681728"/>
            <a:ext cx="4828032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52 features using hand, chest and ankle signals plus heart rate.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16052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4160520"/>
            <a:ext cx="73152" cy="1188720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19088" y="4279392"/>
            <a:ext cx="484632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Limited feature set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4681728"/>
            <a:ext cx="4828032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18 features focused on hand-sensor signals plus heart rate.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715000"/>
            <a:ext cx="10698480" cy="3657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BE4646"/>
                </a:solidFill>
                <a:latin typeface="Aptos"/>
              </a:defRPr>
            </a:pPr>
            <a:r>
              <a:t>Evaluation split is row-wise, not subject-independent.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4A097"/>
                </a:solidFill>
                <a:latin typeface="Aptos"/>
              </a:defRPr>
            </a:pPr>
            <a:r>
              <a:t>04 •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33E"/>
                </a:solidFill>
                <a:latin typeface="Aptos"/>
              </a:defRPr>
            </a:pPr>
            <a:r>
              <a:t>Models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28016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27631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9967"/>
            <a:ext cx="3044952" cy="685799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Linear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0876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508760"/>
            <a:ext cx="73152" cy="1280160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627631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RBF Support Vector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29967"/>
            <a:ext cx="3044952" cy="685799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Non-linear boundary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0876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508760"/>
            <a:ext cx="73152" cy="1280160"/>
          </a:xfrm>
          <a:prstGeom prst="rect">
            <a:avLst/>
          </a:prstGeom>
          <a:solidFill>
            <a:srgbClr val="EB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1627631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029967"/>
            <a:ext cx="3044952" cy="685799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Rule-based splits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0040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200400"/>
            <a:ext cx="73152" cy="128016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319272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AdaBoost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721608"/>
            <a:ext cx="3044952" cy="685799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Boosted learners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20040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80" y="3200400"/>
            <a:ext cx="73152" cy="1280160"/>
          </a:xfrm>
          <a:prstGeom prst="rect">
            <a:avLst/>
          </a:prstGeom>
          <a:solidFill>
            <a:srgbClr val="27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3319272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721608"/>
            <a:ext cx="3044952" cy="685799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Ensemble of trees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200400"/>
            <a:ext cx="3429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3200400"/>
            <a:ext cx="73152" cy="1280160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3319272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MLP Neural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3721608"/>
            <a:ext cx="3044952" cy="685799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Feed-forward neural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49240"/>
            <a:ext cx="10607040" cy="73152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A697D"/>
                </a:solidFill>
                <a:latin typeface="Aptos"/>
              </a:defRPr>
            </a:pPr>
            <a:r>
              <a:t>Scaling was used where appropriate. SVM used a separate sampled dataset (10,000 train / 20,000 test per configuration), so its score is not perfectly comparable.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4A097"/>
                </a:solidFill>
                <a:latin typeface="Aptos"/>
              </a:defRPr>
            </a:pPr>
            <a:r>
              <a:t>05 •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33E"/>
                </a:solidFill>
                <a:latin typeface="Aptos"/>
              </a:defRPr>
            </a:pPr>
            <a:r>
              <a:t>Results: accuracy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417320"/>
          <a:ext cx="74523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42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Full features</a:t>
                      </a:r>
                    </a:p>
                  </a:txBody>
                  <a:tcPr>
                    <a:solidFill>
                      <a:srgbClr val="142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Limited features</a:t>
                      </a:r>
                    </a:p>
                  </a:txBody>
                  <a:tcPr>
                    <a:solidFill>
                      <a:srgbClr val="1423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99.22%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96.81%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98.31%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97.61%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RBF SVM*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96.44%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88.82%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MLP Neural Network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94.92%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83.59%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AdaBoost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88.40%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75.02%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85.70%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52F3E"/>
                          </a:solidFill>
                          <a:latin typeface="Aptos"/>
                        </a:defRPr>
                      </a:pPr>
                      <a:r>
                        <a:t>66.72%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6459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1645920"/>
            <a:ext cx="73152" cy="1828800"/>
          </a:xfrm>
          <a:prstGeom prst="rect">
            <a:avLst/>
          </a:prstGeom>
          <a:solidFill>
            <a:srgbClr val="27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05088" y="1764792"/>
            <a:ext cx="23774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Best reported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167128"/>
            <a:ext cx="2359152" cy="12344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52F3E"/>
                </a:solidFill>
                <a:latin typeface="Aptos"/>
              </a:defRPr>
            </a:pPr>
            <a:r>
              <a:t>Random Forest</a:t>
            </a:r>
          </a:p>
          <a:p>
            <a:pPr>
              <a:spcAft>
                <a:spcPts val="500"/>
              </a:spcAft>
              <a:defRPr sz="1600" b="0">
                <a:solidFill>
                  <a:srgbClr val="252F3E"/>
                </a:solidFill>
                <a:latin typeface="Aptos"/>
              </a:defRPr>
            </a:pPr>
            <a:r>
              <a:t>99.22% accuracy</a:t>
            </a:r>
          </a:p>
          <a:p>
            <a:pPr>
              <a:spcAft>
                <a:spcPts val="500"/>
              </a:spcAft>
              <a:defRPr sz="1600" b="0">
                <a:solidFill>
                  <a:srgbClr val="252F3E"/>
                </a:solidFill>
                <a:latin typeface="Aptos"/>
              </a:defRPr>
            </a:pPr>
            <a:r>
              <a:t>(full features)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3703320"/>
            <a:ext cx="27432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03920" y="3703320"/>
            <a:ext cx="73152" cy="1691640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05088" y="3822191"/>
            <a:ext cx="23774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4224528"/>
            <a:ext cx="2359152" cy="109728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E"/>
                </a:solidFill>
                <a:latin typeface="Aptos"/>
              </a:defRPr>
            </a:pPr>
            <a:r>
              <a:t>Full features generally improve results; tree-based models are strongest here.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4646"/>
                </a:solidFill>
                <a:latin typeface="Aptos"/>
              </a:defRPr>
            </a:pPr>
            <a:r>
              <a:t>*SVM used a separate sampled split; metrics are not perfectly comparable.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4A097"/>
                </a:solidFill>
                <a:latin typeface="Aptos"/>
              </a:defRPr>
            </a:pPr>
            <a:r>
              <a:rPr dirty="0"/>
              <a:t>06 •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10972800" cy="59436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33E"/>
                </a:solidFill>
                <a:latin typeface="Aptos"/>
              </a:defRPr>
            </a:pPr>
            <a:r>
              <a:rPr dirty="0"/>
              <a:t>Code structure &amp;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865376"/>
            <a:ext cx="52120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337560" y="1865376"/>
            <a:ext cx="73152" cy="3520440"/>
          </a:xfrm>
          <a:prstGeom prst="rect">
            <a:avLst/>
          </a:prstGeom>
          <a:solidFill>
            <a:srgbClr val="3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38728" y="1984248"/>
            <a:ext cx="484632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Repository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2386584"/>
            <a:ext cx="4828032" cy="292608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notebooks/</a:t>
            </a:r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  01_dataset_exploration.ipynb</a:t>
            </a:r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  02_preprocessing.ipynb</a:t>
            </a:r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  03_model_training.ipynb</a:t>
            </a:r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results/</a:t>
            </a:r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  model_performance.csv</a:t>
            </a:r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  comparison plots and confusion_matrices/</a:t>
            </a:r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endParaRPr/>
          </a:p>
          <a:p>
            <a:pPr>
              <a:spcAft>
                <a:spcPts val="500"/>
              </a:spcAft>
              <a:defRPr sz="1400" b="0">
                <a:solidFill>
                  <a:srgbClr val="252F3E"/>
                </a:solidFill>
                <a:latin typeface="Aptos"/>
              </a:defRPr>
            </a:pPr>
            <a:r>
              <a:t>report/ • README.md • requirements.txt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A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677962"/>
            <a:ext cx="10972800" cy="228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4A097"/>
                </a:solidFill>
                <a:latin typeface="Aptos"/>
              </a:defRPr>
            </a:pPr>
            <a:r>
              <a:rPr dirty="0"/>
              <a:t>07 •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87741"/>
            <a:ext cx="10972800" cy="513987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4233E"/>
                </a:solidFill>
                <a:latin typeface="Aptos"/>
              </a:defRPr>
            </a:pPr>
            <a:r>
              <a:rPr dirty="0"/>
              <a:t>Conclusion, limitations</a:t>
            </a:r>
            <a:r>
              <a:rPr lang="en-IN" dirty="0"/>
              <a:t> :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A69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7992" y="2591671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7992" y="2591671"/>
            <a:ext cx="73152" cy="1965960"/>
          </a:xfrm>
          <a:prstGeom prst="rect">
            <a:avLst/>
          </a:prstGeom>
          <a:solidFill>
            <a:srgbClr val="279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9160" y="2710543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What we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" y="3112879"/>
            <a:ext cx="3044952" cy="1371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52F3E"/>
                </a:solidFill>
                <a:latin typeface="Aptos"/>
              </a:defRPr>
            </a:pPr>
            <a:r>
              <a:t>Random Forest with full features achieved the highest reported accuracy: 99.22%.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21062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621062"/>
            <a:ext cx="73152" cy="196596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739934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Key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142270"/>
            <a:ext cx="3044952" cy="1371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E"/>
                </a:solidFill>
                <a:latin typeface="Aptos"/>
              </a:defRPr>
            </a:pPr>
            <a:r>
              <a:t>Random row split can place data from the same subject in train and test; unseen-subject performance is unknown.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621062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621062"/>
            <a:ext cx="73152" cy="1965960"/>
          </a:xfrm>
          <a:prstGeom prst="rect">
            <a:avLst/>
          </a:prstGeom>
          <a:solidFill>
            <a:srgbClr val="EB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2739934"/>
            <a:ext cx="3063240" cy="329184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4233E"/>
                </a:solidFill>
                <a:latin typeface="Aptos"/>
              </a:defRPr>
            </a:pPr>
            <a:r>
              <a:t>SVM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42270"/>
            <a:ext cx="3044952" cy="1371600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52F3E"/>
                </a:solidFill>
                <a:latin typeface="Aptos"/>
              </a:defRPr>
            </a:pPr>
            <a:r>
              <a:t>SVM used a separate sampled split; its score is not directly comparable.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424160" cy="390876"/>
          </a:xfrm>
          <a:prstGeom prst="rect">
            <a:avLst/>
          </a:prstGeom>
          <a:noFill/>
        </p:spPr>
        <p:txBody>
          <a:bodyPr wrap="square" lIns="45720" tIns="36576" rIns="4572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4A097"/>
                </a:solidFill>
                <a:latin typeface="Aptos"/>
              </a:defRPr>
            </a:pPr>
            <a:r>
              <a:rPr dirty="0"/>
              <a:t>Thank you</a:t>
            </a: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604</Words>
  <Application>Microsoft Office PowerPoint</Application>
  <PresentationFormat>Widescreen</PresentationFormat>
  <Paragraphs>137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ANAND S</cp:lastModifiedBy>
  <cp:revision>2</cp:revision>
  <dcterms:created xsi:type="dcterms:W3CDTF">2013-01-27T09:14:16Z</dcterms:created>
  <dcterms:modified xsi:type="dcterms:W3CDTF">2026-10-13T06:54:36Z</dcterms:modified>
  <cp:category/>
</cp:coreProperties>
</file>